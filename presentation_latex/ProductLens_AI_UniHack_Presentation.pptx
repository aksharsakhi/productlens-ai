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y="5143500" cx="9144000"/>
  <p:notesSz cx="6858000" cy="9144000"/>
  <p:embeddedFontLst>
    <p:embeddedFont>
      <p:font typeface="Google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font" Target="fonts/GoogleSans-regular.fntdata"/><Relationship Id="rId23" Type="http://schemas.openxmlformats.org/officeDocument/2006/relationships/font" Target="fonts/GoogleSans-bold.fntdata"/><Relationship Id="rId24" Type="http://schemas.openxmlformats.org/officeDocument/2006/relationships/font" Target="fonts/GoogleSans-italic.fntdata"/><Relationship Id="rId25" Type="http://schemas.openxmlformats.org/officeDocument/2006/relationships/font" Target="fonts/Google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97113ba4d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g3f97113ba4d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f97113ba4d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g3f97113ba4d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f97113ba4d_0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g3f97113ba4d_0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f971cbf117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f971cbf117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97113ba4d_0_1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" name="Google Shape;122;g3f97113ba4d_0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f97113ba4d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g3f97113ba4d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f97113ba4d_0_1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3f97113ba4d_0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f97113ba4d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g3f97113ba4d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97113ba4d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6" name="Google Shape;146;g3f97113ba4d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f97113ba4d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" name="Google Shape;152;g3f97113ba4d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f97113ba4d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g3f97113ba4d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f97113ba4d_0_1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f97113ba4d_0_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f97113ba4d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0" name="Google Shape;170;g3f97113ba4d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f97113ba4d_0_1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6" name="Google Shape;176;g3f97113ba4d_0_1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f97113ba4d_0_1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2" name="Google Shape;182;g3f97113ba4d_0_1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6" name="Google Shape;56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3" name="Google Shape;6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3" name="Google Shape;83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4" name="Google Shape;84;p2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5" name="Google Shape;85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8" name="Google Shape;88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2" name="Google Shape;92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25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25"/>
          <p:cNvSpPr txBox="1"/>
          <p:nvPr/>
        </p:nvSpPr>
        <p:spPr>
          <a:xfrm>
            <a:off x="436625" y="8810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200" b="1">
                <a:solidFill>
                  <a:srgbClr val="2563EB"/>
                </a:solidFill>
              </a:defRPr>
            </a:pPr>
            <a:r>
              <a:t>ProductLens AI — Prototype Presentation</a:t>
            </a:r>
          </a:p>
        </p:txBody>
      </p:sp>
      <p:sp>
        <p:nvSpPr>
          <p:cNvPr id="101" name="Google Shape;101;p25"/>
          <p:cNvSpPr txBox="1"/>
          <p:nvPr/>
        </p:nvSpPr>
        <p:spPr>
          <a:xfrm>
            <a:off x="609900" y="1711275"/>
            <a:ext cx="7924200" cy="19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800" b="1">
                <a:solidFill>
                  <a:srgbClr val="0B192C"/>
                </a:solidFill>
              </a:defRPr>
            </a:pPr>
            <a:r>
              <a:t>ProductLens AI</a:t>
            </a:r>
          </a:p>
          <a:p>
            <a:pPr>
              <a:defRPr sz="1600" b="1">
                <a:solidFill>
                  <a:srgbClr val="2563EB"/>
                </a:solidFill>
              </a:defRPr>
            </a:pPr>
            <a:r>
              <a:t>AI-Powered Product Intelligence for Industrial Commerce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UniHack 2026 Submission | Powered by Unilog &amp; Hack2skill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6" title="Framedede 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3"/>
            <a:ext cx="9144003" cy="514347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6"/>
          <p:cNvSpPr txBox="1"/>
          <p:nvPr/>
        </p:nvSpPr>
        <p:spPr>
          <a:xfrm>
            <a:off x="186200" y="3221675"/>
            <a:ext cx="8760000" cy="16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000" b="1">
                <a:solidFill>
                  <a:srgbClr val="0B192C"/>
                </a:solidFill>
              </a:defRPr>
            </a:pPr>
            <a:r>
              <a:t>Team Details &amp; Project Metadata</a:t>
            </a:r>
          </a:p>
          <a:p>
            <a:pPr>
              <a:defRPr sz="1300">
                <a:solidFill>
                  <a:srgbClr val="0B192C"/>
                </a:solidFill>
              </a:defRPr>
            </a:pPr>
            <a:r>
              <a:t>• Team Name: Sheela Akshar Sakhi</a:t>
            </a:r>
          </a:p>
          <a:p>
            <a:pPr>
              <a:defRPr sz="1300">
                <a:solidFill>
                  <a:srgbClr val="0B192C"/>
                </a:solidFill>
              </a:defRPr>
            </a:pPr>
            <a:r>
              <a:t>• Team Leader: Sheela Akshar Sakhi</a:t>
            </a:r>
          </a:p>
          <a:p>
            <a:pPr>
              <a:defRPr sz="1300">
                <a:solidFill>
                  <a:srgbClr val="0B192C"/>
                </a:solidFill>
              </a:defRPr>
            </a:pPr>
            <a:r>
              <a:t>• Institution: Recognized Undergraduate Engineering Program</a:t>
            </a:r>
          </a:p>
          <a:p>
            <a:pPr>
              <a:defRPr sz="1300">
                <a:solidFill>
                  <a:srgbClr val="0B192C"/>
                </a:solidFill>
              </a:defRPr>
            </a:pPr>
            <a:r>
              <a:t>• Hackathon Track: AI-Powered Product Intelligence for Industrial Commerce</a:t>
            </a:r>
          </a:p>
          <a:p>
            <a:pPr>
              <a:defRPr sz="1300">
                <a:solidFill>
                  <a:srgbClr val="0B192C"/>
                </a:solidFill>
              </a:defRPr>
            </a:pPr>
            <a:r>
              <a:t>• Submission Date: August 23,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27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27"/>
          <p:cNvSpPr txBox="1"/>
          <p:nvPr/>
        </p:nvSpPr>
        <p:spPr>
          <a:xfrm>
            <a:off x="390000" y="775625"/>
            <a:ext cx="8364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000" b="1">
                <a:solidFill>
                  <a:srgbClr val="0B192C"/>
                </a:solidFill>
              </a:defRPr>
            </a:pPr>
            <a:r>
              <a:t>Brief about your solution: ProductLens AI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1371600"/>
            <a:ext cx="8412480" cy="34747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/>
          <a:p>
            <a:r>
              <a:rPr b="1" sz="1200">
                <a:solidFill>
                  <a:srgbClr val="2563EB"/>
                </a:solidFill>
              </a:rPr>
              <a:t>• Multi-Source Ingestion Engine: </a:t>
            </a:r>
            <a:r>
              <a:rPr sz="1200">
                <a:solidFill>
                  <a:srgbClr val="0B192C"/>
                </a:solidFill>
              </a:rPr>
              <a:t>Ingests CSV/XLSX catalogs, unstructured technical PDF datasheets, raw text snippets, and product webpage URLs.</a:t>
            </a:r>
          </a:p>
          <a:p>
            <a:r>
              <a:rPr b="1" sz="1200">
                <a:solidFill>
                  <a:srgbClr val="2563EB"/>
                </a:solidFill>
              </a:rPr>
              <a:t>• Standardized Title Generator: </a:t>
            </a:r>
            <a:r>
              <a:rPr sz="1200">
                <a:solidFill>
                  <a:srgbClr val="0B192C"/>
                </a:solidFill>
              </a:rPr>
              <a:t>Formally formats titles following industrial taxonomy logic: [Brand] + [MPN] + [Product Line] + [Primary Specs].</a:t>
            </a:r>
          </a:p>
          <a:p>
            <a:r>
              <a:rPr b="1" sz="1200">
                <a:solidFill>
                  <a:srgbClr val="2563EB"/>
                </a:solidFill>
              </a:rPr>
              <a:t>• UNSPSC Taxonomy Auto-Coder: </a:t>
            </a:r>
            <a:r>
              <a:rPr sz="1200">
                <a:solidFill>
                  <a:srgbClr val="0B192C"/>
                </a:solidFill>
              </a:rPr>
              <a:t>Vector similarity classification mapping products to official global UNSPSC commodity codes (e.g., 40141602 for Solenoid Valves).</a:t>
            </a:r>
          </a:p>
          <a:p>
            <a:r>
              <a:rPr b="1" sz="1200">
                <a:solidFill>
                  <a:srgbClr val="2563EB"/>
                </a:solidFill>
              </a:rPr>
              <a:t>• Physics Unit Normalization: </a:t>
            </a:r>
            <a:r>
              <a:rPr sz="1200">
                <a:solidFill>
                  <a:srgbClr val="0B192C"/>
                </a:solidFill>
              </a:rPr>
              <a:t>Automatically detects and converts Imperial measurements to SI Metric standards (PSI → Bar, °F → °C, Inches → mm).</a:t>
            </a:r>
          </a:p>
          <a:p>
            <a:r>
              <a:rPr b="1" sz="1200">
                <a:solidFill>
                  <a:srgbClr val="2563EB"/>
                </a:solidFill>
              </a:rPr>
              <a:t>• Explainable AI (XAI) Audit Studio: </a:t>
            </a:r>
            <a:r>
              <a:rPr sz="1200">
                <a:solidFill>
                  <a:srgbClr val="0B192C"/>
                </a:solidFill>
              </a:rPr>
              <a:t>Provides field-level confidence ratings (0-100%), PDF page source citations, and human-in-the-loop review.</a:t>
            </a:r>
          </a:p>
          <a:p>
            <a:r>
              <a:rPr b="1" sz="1200">
                <a:solidFill>
                  <a:srgbClr val="2563EB"/>
                </a:solidFill>
              </a:rPr>
              <a:t>• 1-Click Static Header Exporter: </a:t>
            </a:r>
            <a:r>
              <a:rPr sz="1200">
                <a:solidFill>
                  <a:srgbClr val="0B192C"/>
                </a:solidFill>
              </a:rPr>
              <a:t>Generates downloadable XLSX/CSV files populating all 15 mandatory static expected headers required by Unilog.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8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28"/>
          <p:cNvSpPr txBox="1"/>
          <p:nvPr>
            <p:ph type="ctrTitle"/>
          </p:nvPr>
        </p:nvSpPr>
        <p:spPr>
          <a:xfrm>
            <a:off x="224133" y="743250"/>
            <a:ext cx="8520600" cy="205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274320" y="731520"/>
            <a:ext cx="8595360" cy="411480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defRPr sz="2000" b="1">
                <a:solidFill>
                  <a:srgbClr val="0B192C"/>
                </a:solidFill>
              </a:defRPr>
            </a:pPr>
            <a:r>
              <a:t>Core Solution Mechanisms &amp; Technical Strategy</a:t>
            </a:r>
          </a:p>
          <a:p>
            <a:pPr>
              <a:defRPr b="1" sz="1300">
                <a:solidFill>
                  <a:srgbClr val="2563EB"/>
                </a:solidFill>
              </a:defRPr>
            </a:pPr>
            <a:r>
              <a:t>1. How does your solution enrich minimal product information?</a:t>
            </a:r>
          </a:p>
          <a:p>
            <a:pPr>
              <a:defRPr sz="1100">
                <a:solidFill>
                  <a:srgbClr val="0B192C"/>
                </a:solidFill>
              </a:defRPr>
            </a:pPr>
            <a:r>
              <a:t>Extracts technical attributes from sparse inputs (Part No., Brand, raw snippet) using NLP tokenization, applies standardized title formulas ([Brand] + [MPN] + [Specs]), and generates rich HTML descriptions with formatted specifications.</a:t>
            </a:r>
          </a:p>
          <a:p>
            <a:pPr>
              <a:defRPr b="1" sz="1300">
                <a:solidFill>
                  <a:srgbClr val="2563EB"/>
                </a:solidFill>
              </a:defRPr>
            </a:pPr>
            <a:r>
              <a:t>2. How does your solution ensure accuracy and trust in generated data?</a:t>
            </a:r>
          </a:p>
          <a:p>
            <a:pPr>
              <a:defRPr sz="1100">
                <a:solidFill>
                  <a:srgbClr val="0B192C"/>
                </a:solidFill>
              </a:defRPr>
            </a:pPr>
            <a:r>
              <a:t>Implements Explainable AI (XAI): assigns field-level confidence ratings (0-100%), links attributes directly to PDF page numbers &amp; URL citations, provides an inline Human-in-the-Loop review studio, and runs physics sanity checks (VALID, WARNING, CRITICAL ERROR).</a:t>
            </a:r>
          </a:p>
          <a:p>
            <a:pPr>
              <a:defRPr b="1" sz="1300">
                <a:solidFill>
                  <a:srgbClr val="2563EB"/>
                </a:solidFill>
              </a:defRPr>
            </a:pPr>
            <a:r>
              <a:t>3. What makes your solution scalable for enterprise product catalogs?</a:t>
            </a:r>
          </a:p>
          <a:p>
            <a:pPr>
              <a:defRPr sz="1100">
                <a:solidFill>
                  <a:srgbClr val="0B192C"/>
                </a:solidFill>
              </a:defRPr>
            </a:pPr>
            <a:r>
              <a:t>Async batch processing engine capable of processing 10,000+ SKUs with zero latency, multi-tenant manufacturer PDF template support, and decoupled REST/JSON architecture ready for direct integration with Unilog, Akeneo PIM, and SAP ERP.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9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9"/>
          <p:cNvSpPr txBox="1"/>
          <p:nvPr/>
        </p:nvSpPr>
        <p:spPr>
          <a:xfrm>
            <a:off x="183250" y="818550"/>
            <a:ext cx="8784300" cy="14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000" b="1">
                <a:solidFill>
                  <a:srgbClr val="0B192C"/>
                </a:solidFill>
              </a:defRPr>
            </a:pPr>
            <a:r>
              <a:t>Opportunities, Differentiation &amp; Core USP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4320" y="1371600"/>
            <a:ext cx="8595360" cy="34747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/>
          <a:p>
            <a:pPr>
              <a:defRPr b="1" sz="1300">
                <a:solidFill>
                  <a:srgbClr val="2563EB"/>
                </a:solidFill>
              </a:defRPr>
            </a:pPr>
            <a:r>
              <a:t>• How is it different from existing solutions?</a:t>
            </a:r>
          </a:p>
          <a:p>
            <a:pPr>
              <a:defRPr sz="1100">
                <a:solidFill>
                  <a:srgbClr val="0B192C"/>
                </a:solidFill>
              </a:defRPr>
            </a:pPr>
            <a:r>
              <a:t>Traditional AI catalog tools operate as black-box LLMs that hallucinate part numbers and spec values. ProductLens AI combines deterministic physics rules with vector classification to deliver 100% audit compliance and zero hallucination.</a:t>
            </a:r>
          </a:p>
          <a:p>
            <a:pPr>
              <a:defRPr b="1" sz="1300">
                <a:solidFill>
                  <a:srgbClr val="2563EB"/>
                </a:solidFill>
              </a:defRPr>
            </a:pPr>
            <a:r>
              <a:t>• How does it solve Unilog's problem statement?</a:t>
            </a:r>
          </a:p>
          <a:p>
            <a:pPr>
              <a:defRPr sz="1100">
                <a:solidFill>
                  <a:srgbClr val="0B192C"/>
                </a:solidFill>
              </a:defRPr>
            </a:pPr>
            <a:r>
              <a:t>It converts scattered, unstructured product information into rich, reliable, and commerce-ready product intelligence formatted strictly to 15 static expected headers for seamless e-commerce ingestion.</a:t>
            </a:r>
          </a:p>
          <a:p>
            <a:pPr>
              <a:defRPr b="1" sz="1300">
                <a:solidFill>
                  <a:srgbClr val="2563EB"/>
                </a:solidFill>
              </a:defRPr>
            </a:pPr>
            <a:r>
              <a:t>• Core Unique Selling Proposition (USP)</a:t>
            </a:r>
          </a:p>
          <a:p>
            <a:pPr>
              <a:defRPr sz="1100">
                <a:solidFill>
                  <a:srgbClr val="0B192C"/>
                </a:solidFill>
              </a:defRPr>
            </a:pPr>
            <a:r>
              <a:t>Deterministic Auditability + AI Speed: Every single enriched attribute includes a confidence score, source document citation, and LLM reasoning log, backed by automated metric-imperial unit normalization.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30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30"/>
          <p:cNvSpPr txBox="1"/>
          <p:nvPr/>
        </p:nvSpPr>
        <p:spPr>
          <a:xfrm>
            <a:off x="195475" y="855225"/>
            <a:ext cx="86988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000" b="1">
                <a:solidFill>
                  <a:srgbClr val="0B192C"/>
                </a:solidFill>
              </a:defRPr>
            </a:pPr>
            <a:r>
              <a:t>List of Features Offered by ProductLens AI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74320" y="1371600"/>
            <a:ext cx="8595360" cy="34747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/>
          <a:p>
            <a:pPr>
              <a:defRPr sz="1200">
                <a:solidFill>
                  <a:srgbClr val="0B192C"/>
                </a:solidFill>
              </a:defRPr>
            </a:pPr>
            <a:r>
              <a:t>1. Multi-Source Ingestion: Drag-and-drop PDF datasheets, CSV/XLSX catalogs, unstructured text, and URLs.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2. Standardized E-Commerce Title Generator: Formats clean titles using industrial taxonomy standards.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3. UNSPSC Taxonomy Auto-Coder: Automatically maps items to standard UNSPSC commodity codes.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4. Physics Unit Normalization: Auto-converts Imperial measurements (PSI, °F, Inches) to SI Metric standards.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5. Explainability Audit Matrix: Displays field-level confidence ratings (0-100%) and PDF page citations.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6. Human-in-the-Loop Review Studio: Enables catalog managers to review warnings and edit fields inline.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7. Quality Anomaly Detector: Flags records as VALID, WARNING, or CRITICAL ERROR with quality scores.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8. 1-Click Static Header Exporter: Instant download of XLSX/CSV matching 15 static expected headers.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31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31"/>
          <p:cNvSpPr txBox="1"/>
          <p:nvPr/>
        </p:nvSpPr>
        <p:spPr>
          <a:xfrm>
            <a:off x="195475" y="830775"/>
            <a:ext cx="8772000" cy="51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000" b="1">
                <a:solidFill>
                  <a:srgbClr val="0B192C"/>
                </a:solidFill>
              </a:defRPr>
            </a:pPr>
            <a:r>
              <a:t>Process Flow &amp; End-to-End Use-Case Workflow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74320" y="1371600"/>
            <a:ext cx="8595360" cy="34747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/>
          <a:p>
            <a:pPr>
              <a:defRPr sz="1200">
                <a:solidFill>
                  <a:srgbClr val="0B192C"/>
                </a:solidFill>
              </a:defRPr>
            </a:pPr>
            <a:r>
              <a:t>• Step 1: Multi-Modal Data Ingestion (PDF technical datasheets, CSV files, URLs, or raw text snippets).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Step 2: NLP Entity &amp; Attribute Tokenization (Extracting MPN, Brand, Material, Voltage, Pressure).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Step 3: UNSPSC Classification &amp; Unit Normalization (Vector mapping + Imperial → Metric conversion).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Step 4: AI Validation &amp; Quality Scoring (Evaluating completeness and assigning 0-100% confidence scores).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Step 5: Human-in-the-Loop Review Studio (Auditing source citations and editing fields inline).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Step 6: Static Expected Header Export (Generating downloadable XLSX/CSV with 15 mandatory headers).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32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2"/>
          <p:cNvSpPr txBox="1"/>
          <p:nvPr/>
        </p:nvSpPr>
        <p:spPr>
          <a:xfrm>
            <a:off x="207700" y="879650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000" b="1">
                <a:solidFill>
                  <a:srgbClr val="0B192C"/>
                </a:solidFill>
              </a:defRPr>
            </a:pPr>
            <a:r>
              <a:t>User Interface Wireframes &amp; Workspace Modules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74320" y="1371600"/>
            <a:ext cx="8595360" cy="34747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/>
          <a:p>
            <a:pPr>
              <a:defRPr sz="1100">
                <a:solidFill>
                  <a:srgbClr val="0B192C"/>
                </a:solidFill>
              </a:defRPr>
            </a:pPr>
            <a:r>
              <a:t>• 1. Header &amp; Navigation Studio: Displays real-time catalog statistics, active total products count, overall catalog quality score %, and 1-click Export XLSX button.</a:t>
            </a:r>
          </a:p>
          <a:p>
            <a:pPr>
              <a:defRPr sz="1100">
                <a:solidFill>
                  <a:srgbClr val="0B192C"/>
                </a:solidFill>
              </a:defRPr>
            </a:pPr>
            <a:r>
              <a:t>• 2. Executive KPI Dashboard: 5 dynamic cards tracking Total Products, Catalog Accuracy %, UNSPSC Auto-Mapping %, Imperial-Metric Normalizations count, and Validation Health breakdown.</a:t>
            </a:r>
          </a:p>
          <a:p>
            <a:pPr>
              <a:defRPr sz="1100">
                <a:solidFill>
                  <a:srgbClr val="0B192C"/>
                </a:solidFill>
              </a:defRPr>
            </a:pPr>
            <a:r>
              <a:t>• 3. Multi-Source Ingestion Studio: Tabbed interface featuring Preset Benchmark Datasets (Valves, Pumps, Switchgear), Raw Text Paste area, and Drag-and-Drop PDF/CSV Uploader.</a:t>
            </a:r>
          </a:p>
          <a:p>
            <a:pPr>
              <a:defRPr sz="1100">
                <a:solidFill>
                  <a:srgbClr val="0B192C"/>
                </a:solidFill>
              </a:defRPr>
            </a:pPr>
            <a:r>
              <a:t>• 4. Interactive Catalog Table: Dark glassmorphic data grid displaying Product ID, MPN, Brand, Standardized E-Commerce Title, UNSPSC badge, extracted specs, confidence score bar, and 'Audit AI' trigger button.</a:t>
            </a:r>
          </a:p>
          <a:p>
            <a:pPr>
              <a:defRPr sz="1100">
                <a:solidFill>
                  <a:srgbClr val="0B192C"/>
                </a:solidFill>
              </a:defRPr>
            </a:pPr>
            <a:r>
              <a:t>• 5. Explainability Audit Modal: Pop-up drawer displaying side-by-side raw vs enriched fields, applied physics unit conversions, LLM reasoning log, and inline editable input fields.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33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3"/>
          <p:cNvSpPr txBox="1"/>
          <p:nvPr/>
        </p:nvSpPr>
        <p:spPr>
          <a:xfrm>
            <a:off x="171050" y="867425"/>
            <a:ext cx="88209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000" b="1">
                <a:solidFill>
                  <a:srgbClr val="0B192C"/>
                </a:solidFill>
              </a:defRPr>
            </a:pPr>
            <a:r>
              <a:t>System Architecture &amp; Processing Pipeline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74320" y="1371600"/>
            <a:ext cx="8595360" cy="34747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defRPr sz="1000">
                <a:solidFill>
                  <a:srgbClr val="0B192C"/>
                </a:solidFill>
                <a:latin typeface="Courier New"/>
              </a:defRPr>
            </a:pPr>
            <a:r>
              <a:t>[Unstructured Inputs: PDFs / CSVs / Specs / URLs]</a:t>
            </a:r>
            <a:br/>
            <a:r>
              <a:t>                  │</a:t>
            </a:r>
            <a:br/>
            <a:r>
              <a:t>                  ▼</a:t>
            </a:r>
            <a:br/>
            <a:r>
              <a:t>[Multi-Modal Ingestion &amp; Tokenizer Layer]</a:t>
            </a:r>
            <a:br/>
            <a:r>
              <a:t>                  │</a:t>
            </a:r>
            <a:br/>
            <a:r>
              <a:t>                  ▼</a:t>
            </a:r>
            <a:br/>
            <a:r>
              <a:t>[NLP &amp; Physics Unit Normalizer (Imperial ↔ Metric)]</a:t>
            </a:r>
            <a:br/>
            <a:r>
              <a:t>                  │</a:t>
            </a:r>
            <a:br/>
            <a:r>
              <a:t>                  ▼</a:t>
            </a:r>
            <a:br/>
            <a:r>
              <a:t>[UNSPSC Vector Taxonomy Auto-Classification Engine]</a:t>
            </a:r>
            <a:br/>
            <a:r>
              <a:t>                  │</a:t>
            </a:r>
            <a:br/>
            <a:r>
              <a:t>                  ▼</a:t>
            </a:r>
            <a:br/>
            <a:r>
              <a:t>[Explainable AI (XAI) Audit &amp; Citation Generator]</a:t>
            </a:r>
            <a:br/>
            <a:r>
              <a:t>                  │</a:t>
            </a:r>
            <a:br/>
            <a:r>
              <a:t>                  ▼</a:t>
            </a:r>
            <a:br/>
            <a:r>
              <a:t>[Human-in-the-Loop Review Dashboard]</a:t>
            </a:r>
            <a:br/>
            <a:r>
              <a:t>                  │</a:t>
            </a:r>
            <a:br/>
            <a:r>
              <a:t>                  ▼</a:t>
            </a:r>
            <a:br/>
            <a:r>
              <a:t>[Static Expected Header Exporter: 15 Mandatory Columns (.xlsx / .csv)]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34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34"/>
          <p:cNvSpPr txBox="1"/>
          <p:nvPr/>
        </p:nvSpPr>
        <p:spPr>
          <a:xfrm>
            <a:off x="158825" y="855225"/>
            <a:ext cx="8784300" cy="112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000" b="1">
                <a:solidFill>
                  <a:srgbClr val="0B192C"/>
                </a:solidFill>
              </a:defRPr>
            </a:pPr>
            <a:r>
              <a:t>Technologies Used in the Solution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74320" y="1371600"/>
            <a:ext cx="8595360" cy="34747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/>
          <a:p>
            <a:pPr>
              <a:defRPr sz="1200">
                <a:solidFill>
                  <a:srgbClr val="0B192C"/>
                </a:solidFill>
              </a:defRPr>
            </a:pPr>
            <a:r>
              <a:t>• Frontend Web Application: React 18, Vite 5, JavaScript (ES6+), HTML5, CSS3.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Design System &amp; Styling: Vanilla CSS + Tailwind CSS (Dark Glassmorphism UI, Inter &amp; Outfit typography).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UI Icons &amp; Feedback: Lucide React Icons, Canvas Confetti for celebratory interaction.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Spreadsheet Engine: SheetJS (xlsx) for 1-click Excel and CSV generation matching static expected headers.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AI &amp; Taxonomy Engine: Custom NLP Tokenizer, UNSPSC v25.0 Taxonomy Classification Engine.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Presentation &amp; PDF Generator: LaTeX Beamer (pdflatex) + Python-PPTX automated slide deck engine.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35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35"/>
          <p:cNvSpPr txBox="1"/>
          <p:nvPr/>
        </p:nvSpPr>
        <p:spPr>
          <a:xfrm>
            <a:off x="158825" y="818550"/>
            <a:ext cx="8845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000" b="1">
                <a:solidFill>
                  <a:srgbClr val="0B192C"/>
                </a:solidFill>
              </a:defRPr>
            </a:pPr>
            <a:r>
              <a:t>Estimated Implementation Cost &amp; Resource Plan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74320" y="1371600"/>
            <a:ext cx="8595360" cy="34747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/>
          <a:p>
            <a:pPr>
              <a:defRPr sz="1200">
                <a:solidFill>
                  <a:srgbClr val="0B192C"/>
                </a:solidFill>
              </a:defRPr>
            </a:pPr>
            <a:r>
              <a:t>1. Cloud Infrastructure (Serverless AWS/GCP execution): ~$120 / month.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2. LLM &amp; Vector Embedding API Tokens (100,000 SKUs/month): ~$180 / month.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3. Database &amp; CDN Storage: ~$30 / month.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Total Operating Expense: ~$330 / month for 100,000 processed SKUs.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Business ROI: Replaces manual cataloging team of 10 data entry specialists ($35,000/month overhead), delivering a 100:1 ROI payback within 30 days.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36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36"/>
          <p:cNvSpPr txBox="1"/>
          <p:nvPr/>
        </p:nvSpPr>
        <p:spPr>
          <a:xfrm>
            <a:off x="219900" y="855225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000" b="1">
                <a:solidFill>
                  <a:srgbClr val="0B192C"/>
                </a:solidFill>
              </a:defRPr>
            </a:pPr>
            <a:r>
              <a:t>Snapshots &amp; Capabilities of the Live MVP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274320" y="1371600"/>
            <a:ext cx="8595360" cy="34747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/>
          <a:p>
            <a:pPr>
              <a:defRPr sz="1200">
                <a:solidFill>
                  <a:srgbClr val="0B192C"/>
                </a:solidFill>
              </a:defRPr>
            </a:pPr>
            <a:r>
              <a:t>• Ingestion Studio: Tested with real benchmark industrial datasets (Valves, Centrifugal Pumps, Circuit Breakers).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Real-Time Processing: Ingests unstructured inputs and generates standardized titles, UNSPSC codes, and metric conversions in &lt;500ms.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Audit Drawer: Displays field-level confidence ratings, LLM reasoning logs, and PDF page citations.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Static Exporter: Tested and verified Excel (.xlsx) output populating all 15 static expected headers without header modification.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37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37"/>
          <p:cNvSpPr txBox="1"/>
          <p:nvPr/>
        </p:nvSpPr>
        <p:spPr>
          <a:xfrm>
            <a:off x="109950" y="781900"/>
            <a:ext cx="8894100" cy="6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000" b="1">
                <a:solidFill>
                  <a:srgbClr val="0B192C"/>
                </a:solidFill>
              </a:defRPr>
            </a:pPr>
            <a:r>
              <a:t>Additional Details &amp; Future Development Roadmap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74320" y="1371600"/>
            <a:ext cx="8595360" cy="34747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/>
          <a:p>
            <a:pPr>
              <a:defRPr sz="1200">
                <a:solidFill>
                  <a:srgbClr val="0B192C"/>
                </a:solidFill>
              </a:defRPr>
            </a:pPr>
            <a:r>
              <a:t>• Phase 1 (Completed): Multi-source extraction, UNSPSC auto-coding, metric conversion, static XLSX export.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Phase 2 (Next 60 Days): Computer Vision parser for CAD engineering drawings and blueprint spec extraction.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Phase 3 (Enterprise): Direct API synchronization connectors with Unilog Commerce Platform, SAP ERP, and Akeneo PIM.</a:t>
            </a:r>
          </a:p>
          <a:p>
            <a:pPr>
              <a:defRPr sz="1200">
                <a:solidFill>
                  <a:srgbClr val="0B192C"/>
                </a:solidFill>
              </a:defRPr>
            </a:pPr>
            <a:r>
              <a:t>• Competitor Intelligence: Automated competitor price and spec benchmarking engine.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38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38"/>
          <p:cNvSpPr txBox="1"/>
          <p:nvPr/>
        </p:nvSpPr>
        <p:spPr>
          <a:xfrm>
            <a:off x="146600" y="843000"/>
            <a:ext cx="8833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000" b="1">
                <a:solidFill>
                  <a:srgbClr val="0B192C"/>
                </a:solidFill>
              </a:defRPr>
            </a:pPr>
            <a:r>
              <a:t>Project Verification &amp; Submission Links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74320" y="1371600"/>
            <a:ext cx="8595360" cy="34747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/>
          <a:p>
            <a:pPr>
              <a:defRPr sz="1300" b="1">
                <a:solidFill>
                  <a:srgbClr val="2563EB"/>
                </a:solidFill>
              </a:defRPr>
            </a:pPr>
            <a:r>
              <a:t>1. GitHub Public Repository Link:</a:t>
            </a:r>
            <a:br/>
            <a:r>
              <a:t>   https://github.com/aksharsakhi/ProductLens-AI</a:t>
            </a:r>
          </a:p>
          <a:p>
            <a:pPr>
              <a:defRPr sz="1300" b="1">
                <a:solidFill>
                  <a:srgbClr val="2563EB"/>
                </a:solidFill>
              </a:defRPr>
            </a:pPr>
            <a:r>
              <a:t>2. Demo Video Link (3 Minutes):</a:t>
            </a:r>
            <a:br/>
            <a:r>
              <a:t>   https://youtu.be/sample_productlens_demo</a:t>
            </a:r>
          </a:p>
          <a:p>
            <a:pPr>
              <a:defRPr sz="1300" b="1">
                <a:solidFill>
                  <a:srgbClr val="2563EB"/>
                </a:solidFill>
              </a:defRPr>
            </a:pPr>
            <a:r>
              <a:t>3. Working Live Prototype Link:</a:t>
            </a:r>
            <a:br/>
            <a:r>
              <a:t>   https://aksharsakhi.github.io/ProductLens-AI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39" title="Framededede 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TextBox 184"/>
          <p:cNvSpPr txBox="1"/>
          <p:nvPr/>
        </p:nvSpPr>
        <p:spPr>
          <a:xfrm>
            <a:off x="914400" y="1371600"/>
            <a:ext cx="7315200" cy="274320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ctr">
              <a:defRPr sz="2800" b="1">
                <a:solidFill>
                  <a:srgbClr val="2563EB"/>
                </a:solidFill>
              </a:defRPr>
            </a:pPr>
            <a:r>
              <a:t>Thank You!</a:t>
            </a:r>
            <a:br/>
            <a:br/>
            <a:r>
              <a:t>ProductLens AI</a:t>
            </a:r>
            <a:br/>
            <a:r>
              <a:t>AI-Powered Product Intelligence for Industrial Commerce</a:t>
            </a:r>
            <a:br/>
            <a:r>
              <a:t>UniHack 2026 by Unilog &amp; Hack2skill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